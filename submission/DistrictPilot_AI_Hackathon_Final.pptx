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DistrictPilot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29B6F6"/>
                </a:solidFill>
                <a:latin typeface="Calibri"/>
              </a:defRPr>
            </a:pPr>
            <a:r>
              <a:t>Snowflake-Native Decision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749039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ADCFC"/>
                </a:solidFill>
                <a:latin typeface="Calibri"/>
              </a:defRPr>
            </a:pPr>
            <a:r>
              <a:t>서초 · 영등포 · 중구  렌탈/마케팅 배분 의사결정 에이전트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8BE"/>
                </a:solidFill>
                <a:latin typeface="Calibri"/>
              </a:defRPr>
            </a:pPr>
            <a:r>
              <a:t>Snowflake Korea Hackathon 2026  |  Tech 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69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8BE"/>
                </a:solidFill>
                <a:latin typeface="Calibri"/>
              </a:defRPr>
            </a:pPr>
            <a:r>
              <a:t>Doeon Kim  |  github.com/KIM3310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9B6F6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"다음 달 서초·영등포·중구,</a:t>
            </a:r>
            <a:br/>
            <a:r>
              <a:t>어디에 어떤 상품과 예산을 얼마나?"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6"/>
              </a:spcAft>
              <a:defRPr sz="1700" b="0">
                <a:solidFill>
                  <a:srgbClr val="CADCFC"/>
                </a:solidFill>
                <a:latin typeface="Calibri"/>
              </a:defRPr>
            </a:pPr>
            <a:r>
              <a:t>기존: 경험과 감에 의존한 예산 배분</a:t>
            </a:r>
          </a:p>
          <a:p>
            <a:pPr>
              <a:spcAft>
                <a:spcPts val="816"/>
              </a:spcAft>
              <a:defRPr sz="1700" b="0">
                <a:solidFill>
                  <a:srgbClr val="CADCFC"/>
                </a:solidFill>
                <a:latin typeface="Calibri"/>
              </a:defRPr>
            </a:pPr>
            <a:r>
              <a:t>문제: 3개 구의 수요 변동, 인구 이동, 상권 변화를 실시간 반영 불가</a:t>
            </a:r>
          </a:p>
          <a:p>
            <a:pPr>
              <a:spcAft>
                <a:spcPts val="816"/>
              </a:spcAft>
              <a:defRPr sz="1700" b="0">
                <a:solidFill>
                  <a:srgbClr val="CADCFC"/>
                </a:solidFill>
                <a:latin typeface="Calibri"/>
              </a:defRPr>
            </a:pPr>
            <a:r>
              <a:t>결과: 과투자/미투자, ROI 측정 불가, 리스크 사각지대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1371600"/>
            <a:ext cx="3200400" cy="4114800"/>
          </a:xfrm>
          <a:prstGeom prst="rect">
            <a:avLst/>
          </a:prstGeom>
          <a:solidFill>
            <a:srgbClr val="22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6459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9B6F6"/>
                </a:solidFill>
                <a:latin typeface="Calibri"/>
              </a:defRPr>
            </a:pPr>
            <a:r>
              <a:t>DistrictPilot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228600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데이터 기반 배분</a:t>
            </a:r>
          </a:p>
          <a:p>
            <a:pPr>
              <a:spcAft>
                <a:spcPts val="72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AI 근거 제시</a:t>
            </a:r>
          </a:p>
          <a:p>
            <a:pPr>
              <a:spcAft>
                <a:spcPts val="72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실시간 갱신</a:t>
            </a:r>
          </a:p>
          <a:p>
            <a:pPr>
              <a:spcAft>
                <a:spcPts val="72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민간 + 공공 듀얼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9B6F6"/>
                </a:solidFill>
                <a:latin typeface="Calibri"/>
              </a:defRPr>
            </a:pPr>
            <a:r>
              <a:t>Data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Sponsor (Snowflake Marketplace)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45920"/>
          <a:ext cx="5486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Source</a:t>
                      </a:r>
                    </a:p>
                  </a:txBody>
                  <a:tcPr>
                    <a:solidFill>
                      <a:srgbClr val="294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</a:t>
                      </a:r>
                    </a:p>
                  </a:txBody>
                  <a:tcPr>
                    <a:solidFill>
                      <a:srgbClr val="294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>
                    <a:solidFill>
                      <a:srgbClr val="294D8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SPH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유동인구 / 카드소비 / 자산소득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법정동 → 구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Richgo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매매/전세 시세 / 인구이동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시군구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AJD (Optional)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통신 가입 / 렌탈 / 마케팅 / CS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별도 통합 시 사용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474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External (Public Open Data)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023360"/>
          <a:ext cx="54864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Source</a:t>
                      </a:r>
                    </a:p>
                  </a:txBody>
                  <a:tcPr>
                    <a:solidFill>
                      <a:srgbClr val="294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</a:t>
                      </a:r>
                    </a:p>
                  </a:txBody>
                  <a:tcPr>
                    <a:solidFill>
                      <a:srgbClr val="294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License</a:t>
                      </a:r>
                    </a:p>
                  </a:txBody>
                  <a:tcPr>
                    <a:solidFill>
                      <a:srgbClr val="294D8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한국천문연구원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공휴일/특일 캘린더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공공누리 1유형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행정안전부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연령·성별 주민등록 인구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공공누리 1유형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한국관광 데이터랩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관광수요/외래객 지수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공공누리 1유형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서울시 상권분석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상권변화지표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공공누리 1유형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9B6F6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515600" cy="731520"/>
          </a:xfrm>
          <a:prstGeom prst="rect">
            <a:avLst/>
          </a:prstGeom>
          <a:solidFill>
            <a:srgbClr val="22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54864" cy="73152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34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9B6F6"/>
                </a:solidFill>
                <a:latin typeface="Calibri"/>
              </a:defRPr>
            </a:pPr>
            <a:r>
              <a:t>Data 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39" y="123444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SPH + Richgo + 공휴일 + 연령 + 관광 + 상권 (AJD optional)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03120"/>
            <a:ext cx="10515600" cy="731520"/>
          </a:xfrm>
          <a:prstGeom prst="rect">
            <a:avLst/>
          </a:prstGeom>
          <a:solidFill>
            <a:srgbClr val="22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103120"/>
            <a:ext cx="54864" cy="73152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488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9B6F6"/>
                </a:solidFill>
                <a:latin typeface="Calibri"/>
              </a:defRPr>
            </a:pPr>
            <a:r>
              <a:t>Feature Store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39" y="2148839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DT_FEATURE_MART -&gt; FEATURE_MART_V2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017520"/>
            <a:ext cx="10515600" cy="731520"/>
          </a:xfrm>
          <a:prstGeom prst="rect">
            <a:avLst/>
          </a:prstGeom>
          <a:solidFill>
            <a:srgbClr val="22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017520"/>
            <a:ext cx="54864" cy="73152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0632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9B6F6"/>
                </a:solidFill>
                <a:latin typeface="Calibri"/>
              </a:defRPr>
            </a:pPr>
            <a:r>
              <a:t>ML /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39" y="3063239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DISTRICTPILOT_FORECAST_V2 + Semantic View + Cortex Search + AI_COMPLETE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931920"/>
            <a:ext cx="10515600" cy="731520"/>
          </a:xfrm>
          <a:prstGeom prst="rect">
            <a:avLst/>
          </a:prstGeom>
          <a:solidFill>
            <a:srgbClr val="22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931920"/>
            <a:ext cx="54864" cy="73152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9776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9B6F6"/>
                </a:solidFill>
                <a:latin typeface="Calibri"/>
              </a:defRPr>
            </a:pPr>
            <a:r>
              <a:t>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39" y="3977639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AI_COMPLETE Structured Output → Action Cards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846320"/>
            <a:ext cx="10515600" cy="731520"/>
          </a:xfrm>
          <a:prstGeom prst="rect">
            <a:avLst/>
          </a:prstGeom>
          <a:solidFill>
            <a:srgbClr val="22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4846320"/>
            <a:ext cx="54864" cy="73152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892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9B6F6"/>
                </a:solidFill>
                <a:latin typeface="Calibri"/>
              </a:defRPr>
            </a:pPr>
            <a:r>
              <a:t>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39" y="489204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Streamlit in Snowflake (5 tabs: Allocation | Analysis | AI | Simulation | Ops)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solidFill>
            <a:srgbClr val="22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5760720"/>
            <a:ext cx="54864" cy="73152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806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9B6F6"/>
                </a:solidFill>
                <a:latin typeface="Calibri"/>
              </a:defRPr>
            </a:pPr>
            <a:r>
              <a:t>Ops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39" y="580644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Tasks (daily refresh / weekly retrain) + V_APP_HEALTH + Query Tags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9B6F6"/>
                </a:solidFill>
                <a:latin typeface="Calibri"/>
              </a:defRPr>
            </a:pPr>
            <a:r>
              <a:t>Ablation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ADCFC"/>
                </a:solidFill>
                <a:latin typeface="Calibri"/>
              </a:defRPr>
            </a:pPr>
            <a:r>
              <a:t>외부 데이터 추가로 정량적 MAPE 개선 증명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45920"/>
          <a:ext cx="64008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  <a:gridCol w="213360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294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Features</a:t>
                      </a:r>
                    </a:p>
                  </a:txBody>
                  <a:tcPr>
                    <a:solidFill>
                      <a:srgbClr val="294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294D8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Y-only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스폰서 매출 데이터만 (baseline)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+ Holiday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공휴일/연휴/영업일수 추가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+ Demographics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20-39세/시니어 연령구조 추가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+ Tourism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관광수요/외래객 지수 추가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Full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상권안정도/점포변동 추가 (production)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0" y="1645920"/>
            <a:ext cx="4114800" cy="3657600"/>
          </a:xfrm>
          <a:prstGeom prst="rect">
            <a:avLst/>
          </a:prstGeom>
          <a:solidFill>
            <a:srgbClr val="22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18288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9B6F6"/>
                </a:solidFill>
                <a:latin typeface="Calibri"/>
              </a:defRPr>
            </a:pPr>
            <a:r>
              <a:t>MAPE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237744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72"/>
              </a:spcAft>
              <a:defRPr sz="1400" b="0">
                <a:solidFill>
                  <a:srgbClr val="CADCFC"/>
                </a:solidFill>
                <a:latin typeface="Calibri"/>
              </a:defRPr>
            </a:pPr>
            <a:r>
              <a:t>Model A → E:</a:t>
            </a:r>
          </a:p>
          <a:p>
            <a:pPr>
              <a:spcAft>
                <a:spcPts val="672"/>
              </a:spcAft>
              <a:defRPr sz="1400" b="0">
                <a:solidFill>
                  <a:srgbClr val="CADCFC"/>
                </a:solidFill>
                <a:latin typeface="Calibri"/>
              </a:defRPr>
            </a:pPr>
            <a:r>
              <a:t>MAPE 단계적 감소</a:t>
            </a:r>
          </a:p>
          <a:p>
            <a:pPr>
              <a:spcAft>
                <a:spcPts val="672"/>
              </a:spcAft>
              <a:defRPr sz="1400" b="0">
                <a:solidFill>
                  <a:srgbClr val="CADCFC"/>
                </a:solidFill>
                <a:latin typeface="Calibri"/>
              </a:defRPr>
            </a:pPr>
          </a:p>
          <a:p>
            <a:pPr>
              <a:spcAft>
                <a:spcPts val="672"/>
              </a:spcAft>
              <a:defRPr sz="1400" b="0">
                <a:solidFill>
                  <a:srgbClr val="CADCFC"/>
                </a:solidFill>
                <a:latin typeface="Calibri"/>
              </a:defRPr>
            </a:pPr>
            <a:r>
              <a:t>SHOW_EVALUATION_METRICS()</a:t>
            </a:r>
          </a:p>
          <a:p>
            <a:pPr>
              <a:spcAft>
                <a:spcPts val="672"/>
              </a:spcAft>
              <a:defRPr sz="1400" b="0">
                <a:solidFill>
                  <a:srgbClr val="CADCFC"/>
                </a:solidFill>
                <a:latin typeface="Calibri"/>
              </a:defRPr>
            </a:pPr>
            <a:r>
              <a:t>로 cross-validation 기반</a:t>
            </a:r>
          </a:p>
          <a:p>
            <a:pPr>
              <a:spcAft>
                <a:spcPts val="672"/>
              </a:spcAft>
              <a:defRPr sz="1400" b="0">
                <a:solidFill>
                  <a:srgbClr val="CADCFC"/>
                </a:solidFill>
                <a:latin typeface="Calibri"/>
              </a:defRPr>
            </a:pPr>
            <a:r>
              <a:t>out-of-sample 평가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45720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9F43"/>
                </a:solidFill>
                <a:latin typeface="Calibri"/>
              </a:defRPr>
            </a:pPr>
            <a:r>
              <a:t>앱 Allocation 탭에서 실시간 확인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9B6F6"/>
                </a:solidFill>
                <a:latin typeface="Calibri"/>
              </a:defRPr>
            </a:pPr>
            <a:r>
              <a:t>Feature Importance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ADCFC"/>
                </a:solidFill>
                <a:latin typeface="Calibri"/>
              </a:defRPr>
            </a:pPr>
            <a:r>
              <a:t>EXPLAIN_FEATURE_IMPORTANCE() — 왜 이 구가 높은가?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474720" cy="4114800"/>
          </a:xfrm>
          <a:prstGeom prst="rect">
            <a:avLst/>
          </a:prstGeom>
          <a:solidFill>
            <a:srgbClr val="22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3474720" cy="54864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서초구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0"/>
              </a:spcAft>
              <a:defRPr sz="1500" b="0">
                <a:solidFill>
                  <a:srgbClr val="CADCFC"/>
                </a:solidFill>
                <a:latin typeface="Calibri"/>
              </a:defRPr>
            </a:pPr>
            <a:r>
              <a:t>1. TOTAL_SALES lag</a:t>
            </a:r>
          </a:p>
          <a:p>
            <a:pPr>
              <a:spcAft>
                <a:spcPts val="720"/>
              </a:spcAft>
              <a:defRPr sz="1500" b="0">
                <a:solidFill>
                  <a:srgbClr val="CADCFC"/>
                </a:solidFill>
                <a:latin typeface="Calibri"/>
              </a:defRPr>
            </a:pPr>
            <a:r>
              <a:t>2. HOLIDAY_DAYS</a:t>
            </a:r>
          </a:p>
          <a:p>
            <a:pPr>
              <a:spcAft>
                <a:spcPts val="720"/>
              </a:spcAft>
              <a:defRPr sz="1500" b="0">
                <a:solidFill>
                  <a:srgbClr val="CADCFC"/>
                </a:solidFill>
                <a:latin typeface="Calibri"/>
              </a:defRPr>
            </a:pPr>
            <a:r>
              <a:t>3. AGE_20_39_SHARE</a:t>
            </a:r>
          </a:p>
          <a:p>
            <a:pPr>
              <a:spcAft>
                <a:spcPts val="720"/>
              </a:spcAft>
              <a:defRPr sz="1500" b="0">
                <a:solidFill>
                  <a:srgbClr val="CADCFC"/>
                </a:solidFill>
                <a:latin typeface="Calibri"/>
              </a:defRPr>
            </a:pPr>
            <a:r>
              <a:t>4. STABILITY_SCORE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4114800"/>
          </a:xfrm>
          <a:prstGeom prst="rect">
            <a:avLst/>
          </a:prstGeom>
          <a:solidFill>
            <a:srgbClr val="22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1645920"/>
            <a:ext cx="3474720" cy="54864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28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영등포구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46888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0"/>
              </a:spcAft>
              <a:defRPr sz="1500" b="0">
                <a:solidFill>
                  <a:srgbClr val="CADCFC"/>
                </a:solidFill>
                <a:latin typeface="Calibri"/>
              </a:defRPr>
            </a:pPr>
            <a:r>
              <a:t>1. NET_MOVE</a:t>
            </a:r>
          </a:p>
          <a:p>
            <a:pPr>
              <a:spcAft>
                <a:spcPts val="720"/>
              </a:spcAft>
              <a:defRPr sz="1500" b="0">
                <a:solidFill>
                  <a:srgbClr val="CADCFC"/>
                </a:solidFill>
                <a:latin typeface="Calibri"/>
              </a:defRPr>
            </a:pPr>
            <a:r>
              <a:t>2. WORK_POP</a:t>
            </a:r>
          </a:p>
          <a:p>
            <a:pPr>
              <a:spcAft>
                <a:spcPts val="720"/>
              </a:spcAft>
              <a:defRPr sz="1500" b="0">
                <a:solidFill>
                  <a:srgbClr val="CADCFC"/>
                </a:solidFill>
                <a:latin typeface="Calibri"/>
              </a:defRPr>
            </a:pPr>
            <a:r>
              <a:t>3. TOURISM_IDX</a:t>
            </a:r>
          </a:p>
          <a:p>
            <a:pPr>
              <a:spcAft>
                <a:spcPts val="720"/>
              </a:spcAft>
              <a:defRPr sz="1500" b="0">
                <a:solidFill>
                  <a:srgbClr val="CADCFC"/>
                </a:solidFill>
                <a:latin typeface="Calibri"/>
              </a:defRPr>
            </a:pPr>
            <a:r>
              <a:t>4. COFFEE sales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645920"/>
            <a:ext cx="3474720" cy="4114800"/>
          </a:xfrm>
          <a:prstGeom prst="rect">
            <a:avLst/>
          </a:prstGeom>
          <a:solidFill>
            <a:srgbClr val="22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645920"/>
            <a:ext cx="3474720" cy="54864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828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중구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46888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0"/>
              </a:spcAft>
              <a:defRPr sz="1500" b="0">
                <a:solidFill>
                  <a:srgbClr val="CADCFC"/>
                </a:solidFill>
                <a:latin typeface="Calibri"/>
              </a:defRPr>
            </a:pPr>
            <a:r>
              <a:t>1. FOREIGN_VISITOR_IDX</a:t>
            </a:r>
          </a:p>
          <a:p>
            <a:pPr>
              <a:spcAft>
                <a:spcPts val="720"/>
              </a:spcAft>
              <a:defRPr sz="1500" b="0">
                <a:solidFill>
                  <a:srgbClr val="CADCFC"/>
                </a:solidFill>
                <a:latin typeface="Calibri"/>
              </a:defRPr>
            </a:pPr>
            <a:r>
              <a:t>2. VISIT_POP</a:t>
            </a:r>
          </a:p>
          <a:p>
            <a:pPr>
              <a:spcAft>
                <a:spcPts val="720"/>
              </a:spcAft>
              <a:defRPr sz="1500" b="0">
                <a:solidFill>
                  <a:srgbClr val="CADCFC"/>
                </a:solidFill>
                <a:latin typeface="Calibri"/>
              </a:defRPr>
            </a:pPr>
            <a:r>
              <a:t>3. ACCOMMODATION</a:t>
            </a:r>
          </a:p>
          <a:p>
            <a:pPr>
              <a:spcAft>
                <a:spcPts val="720"/>
              </a:spcAft>
              <a:defRPr sz="1500" b="0">
                <a:solidFill>
                  <a:srgbClr val="CADCFC"/>
                </a:solidFill>
                <a:latin typeface="Calibri"/>
              </a:defRPr>
            </a:pPr>
            <a:r>
              <a:t>4. NET_STORE_CHANGE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8BE"/>
                </a:solidFill>
                <a:latin typeface="Calibri"/>
              </a:defRPr>
            </a:pPr>
            <a:r>
              <a:t>Feature importance 0~1 범위 정규화, 상대적 중요도 기반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9B6F6"/>
                </a:solidFill>
                <a:latin typeface="Calibri"/>
              </a:defRPr>
            </a:pPr>
            <a:r>
              <a:t>Streamlit — Allocation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3474720" cy="1371600"/>
          </a:xfrm>
          <a:prstGeom prst="rect">
            <a:avLst/>
          </a:prstGeom>
          <a:solidFill>
            <a:srgbClr val="22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8BE"/>
                </a:solidFill>
                <a:latin typeface="Calibri"/>
              </a:defRPr>
            </a:pPr>
            <a:r>
              <a:t>서초구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31.2%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188720"/>
            <a:ext cx="3474720" cy="1371600"/>
          </a:xfrm>
          <a:prstGeom prst="rect">
            <a:avLst/>
          </a:prstGeom>
          <a:solidFill>
            <a:srgbClr val="22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2801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8BE"/>
                </a:solidFill>
                <a:latin typeface="Calibri"/>
              </a:defRPr>
            </a:pPr>
            <a:r>
              <a:t>영등포구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73736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35.8%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188720"/>
            <a:ext cx="3474720" cy="1371600"/>
          </a:xfrm>
          <a:prstGeom prst="rect">
            <a:avLst/>
          </a:prstGeom>
          <a:solidFill>
            <a:srgbClr val="22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2801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8BE"/>
                </a:solidFill>
                <a:latin typeface="Calibri"/>
              </a:defRPr>
            </a:pPr>
            <a:r>
              <a:t>중구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173736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33.0%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260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Actual vs Forecast Overlay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474720"/>
            <a:ext cx="6858000" cy="2743200"/>
          </a:xfrm>
          <a:prstGeom prst="rect">
            <a:avLst/>
          </a:prstGeom>
          <a:solidFill>
            <a:srgbClr val="22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11480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A0A8BE"/>
                </a:solidFill>
                <a:latin typeface="Calibri"/>
              </a:defRPr>
            </a:pPr>
            <a:r>
              <a:t>[3구 시계열 차트: Actual 실선 + Forecast 점선]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9260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Ablation MAPE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3474720"/>
            <a:ext cx="3657600" cy="2743200"/>
          </a:xfrm>
          <a:prstGeom prst="rect">
            <a:avLst/>
          </a:prstGeom>
          <a:solidFill>
            <a:srgbClr val="22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1148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A0A8BE"/>
                </a:solidFill>
                <a:latin typeface="Calibri"/>
              </a:defRPr>
            </a:pPr>
            <a:r>
              <a:t>[Model A→E</a:t>
            </a:r>
            <a:br/>
            <a:r>
              <a:t>MAPE 개선 차트]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9B6F6"/>
                </a:solidFill>
                <a:latin typeface="Calibri"/>
              </a:defRPr>
            </a:pPr>
            <a:r>
              <a:t>Streamlit — Analysis + AI 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486400" cy="5029200"/>
          </a:xfrm>
          <a:prstGeom prst="rect">
            <a:avLst/>
          </a:prstGeom>
          <a:solidFill>
            <a:srgbClr val="22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Analysis Tab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72"/>
              </a:spcAft>
              <a:defRPr sz="1400" b="0">
                <a:solidFill>
                  <a:srgbClr val="CADCFC"/>
                </a:solidFill>
                <a:latin typeface="Calibri"/>
              </a:defRPr>
            </a:pPr>
            <a:r>
              <a:t>KPI: 유동인구 / 카드소비 / 순이동 / 자산</a:t>
            </a:r>
          </a:p>
          <a:p>
            <a:pPr>
              <a:spcAft>
                <a:spcPts val="672"/>
              </a:spcAft>
              <a:defRPr sz="1400" b="0">
                <a:solidFill>
                  <a:srgbClr val="CADCFC"/>
                </a:solidFill>
                <a:latin typeface="Calibri"/>
              </a:defRPr>
            </a:pPr>
            <a:r>
              <a:t>연령구조: 20-39세, 60세+ 비중</a:t>
            </a:r>
          </a:p>
          <a:p>
            <a:pPr>
              <a:spcAft>
                <a:spcPts val="672"/>
              </a:spcAft>
              <a:defRPr sz="1400" b="0">
                <a:solidFill>
                  <a:srgbClr val="CADCFC"/>
                </a:solidFill>
                <a:latin typeface="Calibri"/>
              </a:defRPr>
            </a:pPr>
            <a:r>
              <a:t>관광수요: 수요지수, 외래객 지수</a:t>
            </a:r>
          </a:p>
          <a:p>
            <a:pPr>
              <a:spcAft>
                <a:spcPts val="672"/>
              </a:spcAft>
              <a:defRPr sz="1400" b="0">
                <a:solidFill>
                  <a:srgbClr val="CADCFC"/>
                </a:solidFill>
                <a:latin typeface="Calibri"/>
              </a:defRPr>
            </a:pPr>
            <a:r>
              <a:t>상권건강: 안정도, 순 점포 변동</a:t>
            </a:r>
          </a:p>
          <a:p>
            <a:pPr>
              <a:spcAft>
                <a:spcPts val="672"/>
              </a:spcAft>
              <a:defRPr sz="1400" b="0">
                <a:solidFill>
                  <a:srgbClr val="CADCFC"/>
                </a:solidFill>
                <a:latin typeface="Calibri"/>
              </a:defRPr>
            </a:pPr>
            <a:r>
              <a:t>Feature Importance 차트</a:t>
            </a:r>
          </a:p>
          <a:p>
            <a:pPr>
              <a:spcAft>
                <a:spcPts val="672"/>
              </a:spcAft>
              <a:defRPr sz="1400" b="0">
                <a:solidFill>
                  <a:srgbClr val="CADCFC"/>
                </a:solidFill>
                <a:latin typeface="Calibri"/>
              </a:defRPr>
            </a:pPr>
            <a:r>
              <a:t>3구 비교 테이블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029200" cy="5029200"/>
          </a:xfrm>
          <a:prstGeom prst="rect">
            <a:avLst/>
          </a:prstGeom>
          <a:solidFill>
            <a:srgbClr val="22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AI Agent Tab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920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9B6F6"/>
                </a:solidFill>
                <a:latin typeface="Calibri"/>
              </a:defRPr>
            </a:pPr>
            <a:r>
              <a:t>AI_COMPLETE Structured Output: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76"/>
              </a:spcAft>
              <a:defRPr sz="1200" b="0">
                <a:solidFill>
                  <a:srgbClr val="66BB6A"/>
                </a:solidFill>
                <a:latin typeface="Calibri"/>
              </a:defRPr>
            </a:pPr>
            <a:r>
              <a:t>  "recommended_district": "영등포구"</a:t>
            </a:r>
          </a:p>
          <a:p>
            <a:pPr>
              <a:spcAft>
                <a:spcPts val="576"/>
              </a:spcAft>
              <a:defRPr sz="1200" b="0">
                <a:solidFill>
                  <a:srgbClr val="66BB6A"/>
                </a:solidFill>
                <a:latin typeface="Calibri"/>
              </a:defRPr>
            </a:pPr>
            <a:r>
              <a:t>  "allocation_pct": 42.0</a:t>
            </a:r>
          </a:p>
          <a:p>
            <a:pPr>
              <a:spcAft>
                <a:spcPts val="576"/>
              </a:spcAft>
              <a:defRPr sz="1200" b="0">
                <a:solidFill>
                  <a:srgbClr val="66BB6A"/>
                </a:solidFill>
                <a:latin typeface="Calibri"/>
              </a:defRPr>
            </a:pPr>
            <a:r>
              <a:t>  "drivers": ["순이동 증가", "카드소비 강세"]</a:t>
            </a:r>
          </a:p>
          <a:p>
            <a:pPr>
              <a:spcAft>
                <a:spcPts val="576"/>
              </a:spcAft>
              <a:defRPr sz="1200" b="0">
                <a:solidFill>
                  <a:srgbClr val="66BB6A"/>
                </a:solidFill>
                <a:latin typeface="Calibri"/>
              </a:defRPr>
            </a:pPr>
            <a:r>
              <a:t>  "risk": "중구 관광 편중 변동성"</a:t>
            </a:r>
          </a:p>
          <a:p>
            <a:pPr>
              <a:spcAft>
                <a:spcPts val="576"/>
              </a:spcAft>
              <a:defRPr sz="1200" b="0">
                <a:solidFill>
                  <a:srgbClr val="66BB6A"/>
                </a:solidFill>
                <a:latin typeface="Calibri"/>
              </a:defRPr>
            </a:pPr>
            <a:r>
              <a:t>  "next_action": "가전 예산 15% 증액"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50292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9F43"/>
                </a:solidFill>
                <a:latin typeface="Calibri"/>
              </a:defRPr>
            </a:pPr>
            <a:r>
              <a:t>Feature Mart JSON 컨텍스트 주입</a:t>
            </a:r>
            <a:br/>
            <a:r>
              <a:t>→ Grounded Recommendation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9B6F6"/>
                </a:solidFill>
                <a:latin typeface="Calibri"/>
              </a:defRPr>
            </a:pPr>
            <a:r>
              <a:t>Snowflake Expertise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0972800" cy="566928"/>
          </a:xfrm>
          <a:prstGeom prst="rect">
            <a:avLst/>
          </a:prstGeom>
          <a:solidFill>
            <a:srgbClr val="22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9B6F6"/>
                </a:solidFill>
                <a:latin typeface="Calibri"/>
              </a:defRPr>
            </a:pPr>
            <a:r>
              <a:t>Semantic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11430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DISTRICTPILOT_SV — 비즈니스 메트릭/차원/관계 정의, AI 지침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55648"/>
            <a:ext cx="10972800" cy="566928"/>
          </a:xfrm>
          <a:prstGeom prst="rect">
            <a:avLst/>
          </a:prstGeom>
          <a:solidFill>
            <a:srgbClr val="1A2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0136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9B6F6"/>
                </a:solidFill>
                <a:latin typeface="Calibri"/>
              </a:defRPr>
            </a:pPr>
            <a:r>
              <a:t>Cortex Analyst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801368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Semantic View 기반 정확한 SQL 생성, RBAC 연동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14015"/>
            <a:ext cx="10972800" cy="566928"/>
          </a:xfrm>
          <a:prstGeom prst="rect">
            <a:avLst/>
          </a:prstGeom>
          <a:solidFill>
            <a:srgbClr val="22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59735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9B6F6"/>
                </a:solidFill>
                <a:latin typeface="Calibri"/>
              </a:defRPr>
            </a:pPr>
            <a:r>
              <a:t>Cortex 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459735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정책/룰북 하이브리드 검색 (벡터 + 키워드)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4"/>
            <a:ext cx="10972800" cy="566928"/>
          </a:xfrm>
          <a:prstGeom prst="rect">
            <a:avLst/>
          </a:prstGeom>
          <a:solidFill>
            <a:srgbClr val="1A2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118104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9B6F6"/>
                </a:solidFill>
                <a:latin typeface="Calibri"/>
              </a:defRPr>
            </a:pPr>
            <a:r>
              <a:t>AI_COMPLETE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118104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Structured output (JSON schema) + CORTEX.COMPLETE fallback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730752"/>
            <a:ext cx="10972800" cy="566928"/>
          </a:xfrm>
          <a:prstGeom prst="rect">
            <a:avLst/>
          </a:prstGeom>
          <a:solidFill>
            <a:srgbClr val="22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7647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9B6F6"/>
                </a:solidFill>
                <a:latin typeface="Calibri"/>
              </a:defRPr>
            </a:pPr>
            <a:r>
              <a:t>ML FORECAST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776472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외생변수 + evaluation + feature importance + ablation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389120"/>
            <a:ext cx="10972800" cy="566928"/>
          </a:xfrm>
          <a:prstGeom prst="rect">
            <a:avLst/>
          </a:prstGeom>
          <a:solidFill>
            <a:srgbClr val="1A2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434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9B6F6"/>
                </a:solidFill>
                <a:latin typeface="Calibri"/>
              </a:defRPr>
            </a:pPr>
            <a:r>
              <a:t>Dynamic Tables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4348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DT_FEATURE_MART + FEATURE_MART_V2 serving layer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047488"/>
            <a:ext cx="10972800" cy="566928"/>
          </a:xfrm>
          <a:prstGeom prst="rect">
            <a:avLst/>
          </a:prstGeom>
          <a:solidFill>
            <a:srgbClr val="22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09320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9B6F6"/>
                </a:solidFill>
                <a:latin typeface="Calibri"/>
              </a:defRPr>
            </a:pPr>
            <a:r>
              <a:t>Tasks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5093208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매일 06:00 갱신 + 주 1회 재학습 + 자동 재시도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705856"/>
            <a:ext cx="10972800" cy="566928"/>
          </a:xfrm>
          <a:prstGeom prst="rect">
            <a:avLst/>
          </a:prstGeom>
          <a:solidFill>
            <a:srgbClr val="1A2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751576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9B6F6"/>
                </a:solidFill>
                <a:latin typeface="Calibri"/>
              </a:defRPr>
            </a:pPr>
            <a:r>
              <a:t>Streamlit in SiS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5751576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Owner's rights, 데이터 외부 미유출, RBAC 접근 관리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9B6F6"/>
                </a:solidFill>
                <a:latin typeface="Calibri"/>
              </a:defRPr>
            </a:pPr>
            <a:r>
              <a:t>Operations / Trust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68580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294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294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294D8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DT_FEATURE_MART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Dynamic Table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1h target lag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FEATURE_MART_V2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Serving Table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 input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TASK_REFRESH_PIPELINE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Task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Daily 06:00 KST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TASK_RETRAIN_FORECAST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Task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Weekly Mon 07:00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V_APP_HEALTH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View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Real-time monitoring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DISTRICTPILOT_FORECAST_V2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ML Model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Ablation E (production)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772400" y="1188720"/>
            <a:ext cx="3657600" cy="4754880"/>
          </a:xfrm>
          <a:prstGeom prst="rect">
            <a:avLst/>
          </a:prstGeom>
          <a:solidFill>
            <a:srgbClr val="22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1371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9B6F6"/>
                </a:solidFill>
                <a:latin typeface="Calibri"/>
              </a:defRPr>
            </a:pPr>
            <a:r>
              <a:t>Security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1920240"/>
            <a:ext cx="3291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24"/>
              </a:spcAft>
              <a:defRPr sz="1300" b="0">
                <a:solidFill>
                  <a:srgbClr val="CADCFC"/>
                </a:solidFill>
                <a:latin typeface="Calibri"/>
              </a:defRPr>
            </a:pPr>
            <a:r>
              <a:t>Streamlit: Owner's rights</a:t>
            </a:r>
          </a:p>
          <a:p>
            <a:pPr>
              <a:spcAft>
                <a:spcPts val="624"/>
              </a:spcAft>
              <a:defRPr sz="1300" b="0">
                <a:solidFill>
                  <a:srgbClr val="CADCFC"/>
                </a:solidFill>
                <a:latin typeface="Calibri"/>
              </a:defRPr>
            </a:pPr>
            <a:r>
              <a:t>Cortex: RBAC 연동</a:t>
            </a:r>
          </a:p>
          <a:p>
            <a:pPr>
              <a:spcAft>
                <a:spcPts val="624"/>
              </a:spcAft>
              <a:defRPr sz="1300" b="0">
                <a:solidFill>
                  <a:srgbClr val="CADCFC"/>
                </a:solidFill>
                <a:latin typeface="Calibri"/>
              </a:defRPr>
            </a:pPr>
            <a:r>
              <a:t>Query tag: JSON 추적</a:t>
            </a:r>
          </a:p>
          <a:p>
            <a:pPr>
              <a:spcAft>
                <a:spcPts val="624"/>
              </a:spcAft>
              <a:defRPr sz="1300" b="0">
                <a:solidFill>
                  <a:srgbClr val="CADCFC"/>
                </a:solidFill>
                <a:latin typeface="Calibri"/>
              </a:defRPr>
            </a:pPr>
            <a:r>
              <a:t>데이터: Marketplace 내부 복제</a:t>
            </a:r>
          </a:p>
          <a:p>
            <a:pPr>
              <a:spcAft>
                <a:spcPts val="624"/>
              </a:spcAft>
              <a:defRPr sz="1300" b="0">
                <a:solidFill>
                  <a:srgbClr val="CADCFC"/>
                </a:solidFill>
                <a:latin typeface="Calibri"/>
              </a:defRPr>
            </a:pPr>
          </a:p>
          <a:p>
            <a:pPr>
              <a:spcAft>
                <a:spcPts val="624"/>
              </a:spcAft>
              <a:defRPr sz="1300" b="0">
                <a:solidFill>
                  <a:srgbClr val="CADCFC"/>
                </a:solidFill>
                <a:latin typeface="Calibri"/>
              </a:defRPr>
            </a:pPr>
            <a:r>
              <a:t>Governance</a:t>
            </a:r>
          </a:p>
          <a:p>
            <a:pPr>
              <a:spcAft>
                <a:spcPts val="624"/>
              </a:spcAft>
              <a:defRPr sz="1300" b="0">
                <a:solidFill>
                  <a:srgbClr val="CADCFC"/>
                </a:solidFill>
                <a:latin typeface="Calibri"/>
              </a:defRPr>
            </a:pPr>
            <a:r>
              <a:t>스폰서 데이터 미공유/미배포</a:t>
            </a:r>
          </a:p>
          <a:p>
            <a:pPr>
              <a:spcAft>
                <a:spcPts val="624"/>
              </a:spcAft>
              <a:defRPr sz="1300" b="0">
                <a:solidFill>
                  <a:srgbClr val="CADCFC"/>
                </a:solidFill>
                <a:latin typeface="Calibri"/>
              </a:defRPr>
            </a:pPr>
            <a:r>
              <a:t>외부 데이터: 공공누리 1유형</a:t>
            </a:r>
          </a:p>
          <a:p>
            <a:pPr>
              <a:spcAft>
                <a:spcPts val="624"/>
              </a:spcAft>
              <a:defRPr sz="1300" b="0">
                <a:solidFill>
                  <a:srgbClr val="CADCFC"/>
                </a:solidFill>
                <a:latin typeface="Calibri"/>
              </a:defRPr>
            </a:pPr>
            <a:r>
              <a:t>라이선스 링크 코드 내 명시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9B6F6"/>
                </a:solidFill>
                <a:latin typeface="Calibri"/>
              </a:defRPr>
            </a:pPr>
            <a:r>
              <a:t>One Engine, Two Impacts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ADCFC"/>
                </a:solidFill>
                <a:latin typeface="Calibri"/>
              </a:defRPr>
            </a:pPr>
            <a:r>
              <a:t>같은 Feature Mart + 같은 엔진 = 두 가지 활용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303520" cy="4389120"/>
          </a:xfrm>
          <a:prstGeom prst="rect">
            <a:avLst/>
          </a:prstGeom>
          <a:solidFill>
            <a:srgbClr val="22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5303520" cy="54864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9B6F6"/>
                </a:solidFill>
                <a:latin typeface="Calibri"/>
              </a:defRPr>
            </a:pPr>
            <a:r>
              <a:t>민간 (Private)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68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렌탈/마케팅 예산 최적 배분</a:t>
            </a:r>
          </a:p>
          <a:p>
            <a:pPr>
              <a:spcAft>
                <a:spcPts val="768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신규 매장 출점 우선순위</a:t>
            </a:r>
          </a:p>
          <a:p>
            <a:pPr>
              <a:spcAft>
                <a:spcPts val="768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재고/설치 인력 배치</a:t>
            </a:r>
          </a:p>
          <a:p>
            <a:pPr>
              <a:spcAft>
                <a:spcPts val="768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채널별 ROI 시뮬레이션</a:t>
            </a:r>
          </a:p>
          <a:p>
            <a:pPr>
              <a:spcAft>
                <a:spcPts val="768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상품 카테고리 추천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5303520" cy="4389120"/>
          </a:xfrm>
          <a:prstGeom prst="rect">
            <a:avLst/>
          </a:prstGeom>
          <a:solidFill>
            <a:srgbClr val="22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45920"/>
            <a:ext cx="5303520" cy="54864"/>
          </a:xfrm>
          <a:prstGeom prst="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9F43"/>
                </a:solidFill>
                <a:latin typeface="Calibri"/>
              </a:defRPr>
            </a:pPr>
            <a:r>
              <a:t>공공 (Public)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46888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68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구청 상권 활성화 예산 배분</a:t>
            </a:r>
          </a:p>
          <a:p>
            <a:pPr>
              <a:spcAft>
                <a:spcPts val="768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소상공인 지원금 우선순위</a:t>
            </a:r>
          </a:p>
          <a:p>
            <a:pPr>
              <a:spcAft>
                <a:spcPts val="768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관광 인프라 배치 근거</a:t>
            </a:r>
          </a:p>
          <a:p>
            <a:pPr>
              <a:spcAft>
                <a:spcPts val="768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현장 점검 우선순위 산정</a:t>
            </a:r>
          </a:p>
          <a:p>
            <a:pPr>
              <a:spcAft>
                <a:spcPts val="768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생활SOC 배치 최적화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9B6F6"/>
                </a:solidFill>
                <a:latin typeface="Calibri"/>
              </a:defRPr>
            </a:pPr>
            <a:r>
              <a:t>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~$80/month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286000"/>
          <a:ext cx="64008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  <a:gridCol w="213360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294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Spec</a:t>
                      </a:r>
                    </a:p>
                  </a:txBody>
                  <a:tcPr>
                    <a:solidFill>
                      <a:srgbClr val="294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Est. Cost</a:t>
                      </a:r>
                    </a:p>
                  </a:txBody>
                  <a:tcPr>
                    <a:solidFill>
                      <a:srgbClr val="294D8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Compute WH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X-Small, auto-suspend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~$30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Cortex LLM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mistral-large2, ~50 calls/day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~$25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Streamlit hosting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SiS included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~$5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Dynamic Tables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1h refresh, 2 DTs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~$10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Tasks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Daily + Weekly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~$5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Storage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~1GB total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~$5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9B6F6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0972800" cy="822960"/>
          </a:xfrm>
          <a:prstGeom prst="rect">
            <a:avLst/>
          </a:prstGeom>
          <a:solidFill>
            <a:srgbClr val="22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4864" cy="82296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9B6F6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234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AJD 선택 통합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160020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상품/채널 수준 추천까지 확장 가능한 옵션 레이어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10972800" cy="822960"/>
          </a:xfrm>
          <a:prstGeom prst="rect">
            <a:avLst/>
          </a:prstGeom>
          <a:solidFill>
            <a:srgbClr val="22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94560"/>
            <a:ext cx="54864" cy="82296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9B6F6"/>
                </a:solidFill>
                <a:latin typeface="Calibri"/>
              </a:defRPr>
            </a:pPr>
            <a:r>
              <a:t>Phase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2402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Cortex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60604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Analyst + Search + Custom tool 오케스트레이션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00400"/>
            <a:ext cx="10972800" cy="822960"/>
          </a:xfrm>
          <a:prstGeom prst="rect">
            <a:avLst/>
          </a:prstGeom>
          <a:solidFill>
            <a:srgbClr val="22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00400"/>
            <a:ext cx="54864" cy="822960"/>
          </a:xfrm>
          <a:prstGeom prst="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2918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9B6F6"/>
                </a:solidFill>
                <a:latin typeface="Calibri"/>
              </a:defRPr>
            </a:pPr>
            <a:r>
              <a:t>Phase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3246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MCP Server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361188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Managed MCP로 외부 시스템 안전 연결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206240"/>
            <a:ext cx="10972800" cy="822960"/>
          </a:xfrm>
          <a:prstGeom prst="rect">
            <a:avLst/>
          </a:prstGeom>
          <a:solidFill>
            <a:srgbClr val="22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206240"/>
            <a:ext cx="54864" cy="822960"/>
          </a:xfrm>
          <a:prstGeom prst="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297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9B6F6"/>
                </a:solidFill>
                <a:latin typeface="Calibri"/>
              </a:defRPr>
            </a:pPr>
            <a:r>
              <a:t>Phase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2519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Native 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461772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Marketplace listing으로 앱 배포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212080"/>
            <a:ext cx="10972800" cy="822960"/>
          </a:xfrm>
          <a:prstGeom prst="rect">
            <a:avLst/>
          </a:prstGeom>
          <a:solidFill>
            <a:srgbClr val="22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5212080"/>
            <a:ext cx="54864" cy="82296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5303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9B6F6"/>
                </a:solidFill>
                <a:latin typeface="Calibri"/>
              </a:defRPr>
            </a:pPr>
            <a:r>
              <a:t>Phase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5257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25개 구 확장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0" y="562356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서울 전체 → 수도권 → 전국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9B6F6"/>
                </a:solidFill>
                <a:latin typeface="Calibri"/>
              </a:defRPr>
            </a:pPr>
            <a:r>
              <a:t>Tech Stack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05840"/>
          <a:ext cx="109728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Object</a:t>
                      </a:r>
                    </a:p>
                  </a:txBody>
                  <a:tcPr>
                    <a:solidFill>
                      <a:srgbClr val="294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294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294D8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FEATURE_MART_V2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Table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확장 Feature Mart (50+ features)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DT_FEATURE_MART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Dynamic Table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자동 갱신 (1h lag)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DISTRICTPILOT_FORECAST_V2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ML Model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Ablation E (production)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DISTRICTPILOT_SV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Semantic View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Cortex Analyst용 메트릭 정의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DISTRICTPILOT_SEARCH_SVC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Cortex Search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정책/룰북 검색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ABLATION_RESULTS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Table/View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 모델 MAPE/SMAPE/MAE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FORECAST_RESULTS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Table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예측 결과 serving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TASK_REFRESH_PIPELINE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Task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매일 06:00 KST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TASK_RETRAIN_FORECAST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Task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매주 월 07:00 KST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V_APP_HEALTH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View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운영 상태 모니터링</a:t>
                      </a:r>
                    </a:p>
                  </a:txBody>
                  <a:tcPr>
                    <a:solidFill>
                      <a:srgbClr val="222D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POLICY_DOCUMENTS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Table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AI 근거 정책 문서</a:t>
                      </a:r>
                    </a:p>
                  </a:txBody>
                  <a:tcPr>
                    <a:solidFill>
                      <a:srgbClr val="1A23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9B6F6"/>
                </a:solidFill>
                <a:latin typeface="Calibri"/>
              </a:defRPr>
            </a:pPr>
            <a:r>
              <a:t>Evidence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ADCFC"/>
                </a:solidFill>
                <a:latin typeface="Calibri"/>
              </a:defRPr>
            </a:pPr>
            <a:r>
              <a:t>의사결정의 6단계 증거 — 모두 Snowflake-native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0972800" cy="685800"/>
          </a:xfrm>
          <a:prstGeom prst="rect">
            <a:avLst/>
          </a:prstGeom>
          <a:solidFill>
            <a:srgbClr val="22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54864" cy="68580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9B6F6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2763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Forecast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6276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BB6A"/>
                </a:solidFill>
                <a:latin typeface="Calibri"/>
              </a:defRPr>
            </a:pPr>
            <a:r>
              <a:t>DISTRICTPILOT_FORECAST_V2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627632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ADCFC"/>
                </a:solidFill>
                <a:latin typeface="Calibri"/>
              </a:defRPr>
            </a:pPr>
            <a:r>
              <a:t>3구 x 다월 예측, 평가 지표와 함께 검증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31720"/>
            <a:ext cx="10972800" cy="685800"/>
          </a:xfrm>
          <a:prstGeom prst="rect">
            <a:avLst/>
          </a:prstGeom>
          <a:solidFill>
            <a:srgbClr val="22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331720"/>
            <a:ext cx="54864" cy="68580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4048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9B6F6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40487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Feature Importance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40487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BB6A"/>
                </a:solidFill>
                <a:latin typeface="Calibri"/>
              </a:defRPr>
            </a:pPr>
            <a:r>
              <a:t>EXPLAIN_FEATURE_IMPORTANCE()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404872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ADCFC"/>
                </a:solidFill>
                <a:latin typeface="Calibri"/>
              </a:defRPr>
            </a:pPr>
            <a:r>
              <a:t>Top-5 기여도 + ablation 개선 증명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08960"/>
            <a:ext cx="10972800" cy="685800"/>
          </a:xfrm>
          <a:prstGeom prst="rect">
            <a:avLst/>
          </a:prstGeom>
          <a:solidFill>
            <a:srgbClr val="22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108960"/>
            <a:ext cx="54864" cy="68580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18211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9B6F6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18211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Semantic 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318211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BB6A"/>
                </a:solidFill>
                <a:latin typeface="Calibri"/>
              </a:defRPr>
            </a:pPr>
            <a:r>
              <a:t>DISTRICTPILOT_SV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182112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ADCFC"/>
                </a:solidFill>
                <a:latin typeface="Calibri"/>
              </a:defRPr>
            </a:pPr>
            <a:r>
              <a:t>VQR 10개, SQL규칙 13개, synonym 100+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886200"/>
            <a:ext cx="10972800" cy="685800"/>
          </a:xfrm>
          <a:prstGeom prst="rect">
            <a:avLst/>
          </a:prstGeom>
          <a:solidFill>
            <a:srgbClr val="22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886200"/>
            <a:ext cx="54864" cy="68580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9593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9B6F6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95935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Search Grounding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395935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BB6A"/>
                </a:solidFill>
                <a:latin typeface="Calibri"/>
              </a:defRPr>
            </a:pPr>
            <a:r>
              <a:t>CORTEX.SEARCH()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3959352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ADCFC"/>
                </a:solidFill>
                <a:latin typeface="Calibri"/>
              </a:defRPr>
            </a:pPr>
            <a:r>
              <a:t>외부 컨텍스트 근거, hallucination 방지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663440"/>
            <a:ext cx="10972800" cy="685800"/>
          </a:xfrm>
          <a:prstGeom prst="rect">
            <a:avLst/>
          </a:prstGeom>
          <a:solidFill>
            <a:srgbClr val="22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4663440"/>
            <a:ext cx="54864" cy="68580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73659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9B6F6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473659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Structured Output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473659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BB6A"/>
                </a:solidFill>
                <a:latin typeface="Calibri"/>
              </a:defRPr>
            </a:pPr>
            <a:r>
              <a:t>AI_COMPLETE() + CORTEX.COMPLETE()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4736592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ADCFC"/>
                </a:solidFill>
                <a:latin typeface="Calibri"/>
              </a:defRPr>
            </a:pPr>
            <a:r>
              <a:t>JSON action card + confidence score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440680"/>
            <a:ext cx="10972800" cy="685800"/>
          </a:xfrm>
          <a:prstGeom prst="rect">
            <a:avLst/>
          </a:prstGeom>
          <a:solidFill>
            <a:srgbClr val="22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5440680"/>
            <a:ext cx="54864" cy="68580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55138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9B6F6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551383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Refresh State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0" y="55138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BB6A"/>
                </a:solidFill>
                <a:latin typeface="Calibri"/>
              </a:defRPr>
            </a:pPr>
            <a:r>
              <a:t>V_APP_HEALTH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5513832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ADCFC"/>
                </a:solidFill>
                <a:latin typeface="Calibri"/>
              </a:defRPr>
            </a:pPr>
            <a:r>
              <a:t>LAG_SEC, 갱신 이력, task 상태, query_tag 감사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43"/>
                </a:solidFill>
                <a:latin typeface="Calibri"/>
              </a:defRPr>
            </a:pPr>
            <a:r>
              <a:t>모든 단계가 Snowflake 안에서 완결 — 데이터가 밖으로 나가지 않습니다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29B6F6"/>
                </a:solidFill>
                <a:latin typeface="Calibri"/>
              </a:defRPr>
            </a:pPr>
            <a:r>
              <a:t>DistrictPilot AI — Snowflake-Native Decision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89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ADCFC"/>
                </a:solidFill>
                <a:latin typeface="Calibri"/>
              </a:defRPr>
            </a:pPr>
            <a:r>
              <a:t>Doeon Kim  |  github.com/KIM3310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3035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A0A8BE"/>
                </a:solidFill>
                <a:latin typeface="Calibri"/>
              </a:defRPr>
            </a:pPr>
            <a: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
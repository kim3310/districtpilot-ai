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MoveSignal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9B6F6"/>
                </a:solidFill>
                <a:latin typeface="Calibri"/>
              </a:defRPr>
            </a:pPr>
            <a:r>
              <a:t>Snowflake-Native Decision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ADCFC"/>
                </a:solidFill>
                <a:latin typeface="Calibri"/>
              </a:defRPr>
            </a:pPr>
            <a:r>
              <a:t>서초 · 영등포 · 중구  렌탈/마케팅 배분 의사결정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8BE"/>
                </a:solidFill>
                <a:latin typeface="Calibri"/>
              </a:defRPr>
            </a:pPr>
            <a:r>
              <a:t>Snowflake Korea Hackathon 2026  |  Tech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8BE"/>
                </a:solidFill>
                <a:latin typeface="Calibri"/>
              </a:defRPr>
            </a:pPr>
            <a:r>
              <a:t>Doeon Kim  |  github.com/KIM3310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"다음 달 서초·영등포·중구,</a:t>
            </a:r>
            <a:br/>
            <a:r>
              <a:t>어디에 어떤 상품과 예산을 얼마나?"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6"/>
              </a:spcAft>
              <a:defRPr sz="1700" b="0">
                <a:solidFill>
                  <a:srgbClr val="CADCFC"/>
                </a:solidFill>
                <a:latin typeface="Calibri"/>
              </a:defRPr>
            </a:pPr>
            <a:r>
              <a:t>기존: 경험과 감에 의존한 예산 배분</a:t>
            </a:r>
          </a:p>
          <a:p>
            <a:pPr>
              <a:spcAft>
                <a:spcPts val="816"/>
              </a:spcAft>
              <a:defRPr sz="1700" b="0">
                <a:solidFill>
                  <a:srgbClr val="CADCFC"/>
                </a:solidFill>
                <a:latin typeface="Calibri"/>
              </a:defRPr>
            </a:pPr>
            <a:r>
              <a:t>문제: 3개 구의 수요 변동, 인구 이동, 상권 변화를 실시간 반영 불가</a:t>
            </a:r>
          </a:p>
          <a:p>
            <a:pPr>
              <a:spcAft>
                <a:spcPts val="816"/>
              </a:spcAft>
              <a:defRPr sz="1700" b="0">
                <a:solidFill>
                  <a:srgbClr val="CADCFC"/>
                </a:solidFill>
                <a:latin typeface="Calibri"/>
              </a:defRPr>
            </a:pPr>
            <a:r>
              <a:t>결과: 과투자/미투자, ROI 측정 불가, 리스크 사각지대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371600"/>
            <a:ext cx="3200400" cy="4114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  <a:latin typeface="Calibri"/>
              </a:defRPr>
            </a:pPr>
            <a:r>
              <a:t>MoveSignal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8600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데이터 기반 배분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AI 근거 제시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실시간 갱신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민간 + 공공 듀얼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Sponsor (Snowflake Marketplace)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SPH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유동인구 / 카드소비 / 자산소득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법정동 → 구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Richgo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매매/전세 시세 / 인구이동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시군구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AJD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통신 가입 / 렌탈 / 마케팅 / CS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시/군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External (Public Open Data)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023360"/>
          <a:ext cx="5486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License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한국천문연구원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공휴일/특일 캘린더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공공누리 1유형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행정안전부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연령·성별 주민등록 인구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공공누리 1유형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한국관광 데이터랩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관광수요/외래객 지수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공공누리 1유형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서울시 상권분석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상권변화지표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공공누리 1유형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234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SPH + Richgo + AJD + 공휴일 + 연령 + 관광 + 상권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Feature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1488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DT_FEATURE_MART (Dynamic Table, 1h lag) → FEATURE_MART_V2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ML /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30632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ML FORECAST (Ablation A→E) + Semantic View + Cortex Analyst/Search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39776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AI_COMPLETE Structured Output → Action Cards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892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Streamlit in Snowflake (5 tabs: Allocation | Analysis | AI | Simulation | Ops)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5806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Tasks (daily refresh / weekly retrain) + V_APP_HEALTH + Query Tags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외부 데이터 추가로 정량적 MAPE 개선 증명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6400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Y-only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스폰서 매출 데이터만 (baseline)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Holiday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공휴일/연휴/영업일수 추가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Demographics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20-39세/시니어 연령구조 추가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Tourism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관광수요/외래객 지수 추가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상권안정도/점포변동 추가 (production)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0" y="1645920"/>
            <a:ext cx="4114800" cy="36576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6F6"/>
                </a:solidFill>
                <a:latin typeface="Calibri"/>
              </a:defRPr>
            </a:pPr>
            <a:r>
              <a:t>MAPE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3774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Model A → E: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MAPE 단계적 감소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SHOW_EVALUATION_METRICS()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로 cross-validation 기반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out-of-sample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앱 Allocation 탭에서 실시간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EXPLAIN_FEATURE_IMPORTANCE() — 왜 이 구가 높은가?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서초구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1. TOTAL_SALES lag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2. HOLIDAY_DAYS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3. AGE_20_39_SHARE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4. STABILITY_SCORE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4747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영등포구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1. NET_MOVE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2. WORK_POP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3. TOURISM_IDX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4. COFFEE 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4747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중구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1. FOREIGN_VISITOR_IDX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2. VISIT_POP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3. ACCOMMODATION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4. NET_STORE_CHANGE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E"/>
                </a:solidFill>
                <a:latin typeface="Calibri"/>
              </a:defRPr>
            </a:pPr>
            <a:r>
              <a:t>Feature importance 0~1 범위 정규화, 상대적 중요도 기반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Streamlit —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13716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E"/>
                </a:solidFill>
                <a:latin typeface="Calibri"/>
              </a:defRPr>
            </a:pPr>
            <a:r>
              <a:t>서초구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31.2%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474720" cy="13716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E"/>
                </a:solidFill>
                <a:latin typeface="Calibri"/>
              </a:defRPr>
            </a:pPr>
            <a:r>
              <a:t>영등포구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35.8%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88720"/>
            <a:ext cx="3474720" cy="13716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E"/>
                </a:solidFill>
                <a:latin typeface="Calibri"/>
              </a:defRPr>
            </a:pPr>
            <a:r>
              <a:t>중구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33.0%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Actual vs Forecast Overlay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6858000" cy="27432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8BE"/>
                </a:solidFill>
                <a:latin typeface="Calibri"/>
              </a:defRPr>
            </a:pPr>
            <a:r>
              <a:t>[3구 시계열 차트: Actual 실선 + Forecast 점선]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Ablation MAPE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474720"/>
            <a:ext cx="3657600" cy="27432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8BE"/>
                </a:solidFill>
                <a:latin typeface="Calibri"/>
              </a:defRPr>
            </a:pPr>
            <a:r>
              <a:t>[Model A→E</a:t>
            </a:r>
            <a:br/>
            <a:r>
              <a:t>MAPE 개선 차트]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Streamlit — Analysis + AI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Analysis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KPI: 유동인구 / 카드소비 / 순이동 / 자산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연령구조: 20-39세, 60세+ 비중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관광수요: 수요지수, 외래객 지수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상권건강: 안정도, 순 점포 변동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Feature Importance 차트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3구 비교 테이블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Agent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AI_COMPLETE Structured Output: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"recommended_district": "영등포구"</a:t>
            </a:r>
          </a:p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"allocation_pct": 42.0</a:t>
            </a:r>
          </a:p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"drivers": ["순이동 증가", "카드소비 강세"]</a:t>
            </a:r>
          </a:p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"risk": "중구 관광 편중 변동성"</a:t>
            </a:r>
          </a:p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"next_action": "가전 예산 15% 증액"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Feature Mart JSON 컨텍스트 주입</a:t>
            </a:r>
            <a:br/>
            <a:r>
              <a:t>→ Grounded Recommendation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Snowflake 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0" cy="566928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Semantic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143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MOVESIGNAL_SV — 비즈니스 메트릭/차원/관계 정의, AI 지침 포함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55648"/>
            <a:ext cx="10972800" cy="566928"/>
          </a:xfrm>
          <a:prstGeom prst="rect">
            <a:avLst/>
          </a:prstGeom>
          <a:solidFill>
            <a:srgbClr val="1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Cortex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013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Semantic View 기반 정확한 SQL 생성, RBAC 연동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14015"/>
            <a:ext cx="10972800" cy="566928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5973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Cortex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9735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정책/룰북 하이브리드 검색 (벡터 + 키워드)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4"/>
            <a:ext cx="10972800" cy="566928"/>
          </a:xfrm>
          <a:prstGeom prst="rect">
            <a:avLst/>
          </a:prstGeom>
          <a:solidFill>
            <a:srgbClr val="1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1810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AI_COMPLETE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1810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Structured output (JSON schema) + bind params + guardrails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0752"/>
            <a:ext cx="10972800" cy="566928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ML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7647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외생변수 + evaluation + feature importance + ablation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10972800" cy="566928"/>
          </a:xfrm>
          <a:prstGeom prst="rect">
            <a:avLst/>
          </a:prstGeom>
          <a:solidFill>
            <a:srgbClr val="1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Dynamic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434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DT_FEATURE_MART (1h lag) + DT_ALLOCATION_INPUT (downstream)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47488"/>
            <a:ext cx="10972800" cy="566928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932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09320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매일 06:00 갱신 + 주 1회 재학습 + 자동 재시도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05856"/>
            <a:ext cx="10972800" cy="566928"/>
          </a:xfrm>
          <a:prstGeom prst="rect">
            <a:avLst/>
          </a:prstGeom>
          <a:solidFill>
            <a:srgbClr val="1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5157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Streamlit in 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75157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Owner's rights, 데이터 외부 미유출, RBAC 접근 관리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Operations / Trust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858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DT_FEATURE_MART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Table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1h target lag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DT_ALLOCATION_INPUT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Table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Downstream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TASK_REFRESH_PIPELINE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Daily 06:00 KST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TASK_RETRAIN_FORECAST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Weekly Mon 07:00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V_APP_HEALTH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Real-time monitoring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MOVESIGNAL_FORECAST_V2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ML Model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Ablation E (production)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0" y="1188720"/>
            <a:ext cx="3657600" cy="475488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6F6"/>
                </a:solidFill>
                <a:latin typeface="Calibri"/>
              </a:defRPr>
            </a:pPr>
            <a:r>
              <a:t>Security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9202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Streamlit: Owner's rights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Cortex: RBAC 연동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Query tag: JSON 추적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데이터: Marketplace 내부 복제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Governance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스폰서 데이터 미공유/미배포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외부 데이터: 공공누리 1유형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라이선스 링크 코드 내 명시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One Engine, Two Impacts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같은 Feature Mart + 같은 엔진 = 두 가지 활용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B6F6"/>
                </a:solidFill>
                <a:latin typeface="Calibri"/>
              </a:defRPr>
            </a:pPr>
            <a:r>
              <a:t>민간 (Private)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렌탈/마케팅 예산 최적 배분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신규 매장 출점 우선순위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재고/설치 인력 배치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채널별 ROI 시뮬레이션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상품 카테고리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0352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  <a:latin typeface="Calibri"/>
              </a:defRPr>
            </a:pPr>
            <a:r>
              <a:t>공공 (Public)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구청 상권 활성화 예산 배분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소상공인 지원금 우선순위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관광 인프라 배치 근거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현장 점검 우선순위 산정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생활SOC 배치 최적화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~$80/month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6400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Cost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Compute WH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X-Small, auto-suspend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~$30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Cortex LLM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mistral-large2, ~50 calls/day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~$25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Streamlit hosting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SiS included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~$5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Tables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1h refresh, 2 DTs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~$10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Daily + Weekly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~$5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~1GB total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~$5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AJD 완전 통합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00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V01~V11 전체 뷰 매핑 → 상품/채널 수준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4864" cy="8229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Cortex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06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Analyst + Search + Custom tool 오케스트레이션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54864" cy="8229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611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Managed MCP로 외부 시스템 안전 연결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54864" cy="8229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Native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6177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Marketplace listing으로 앱 배포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54864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25개 구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6235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서울 전체 → 수도권 → 전국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Tech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FEATURE_MART_V2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확장 Feature Mart (50+ features)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DT_FEATURE_MART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Table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자동 갱신 (1h lag)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MOVESIGNAL_FORECAST_V2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ML Model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Ablation E (production)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MOVESIGNAL_SV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Semantic View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Cortex Analyst용 메트릭 정의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MOVESIGNAL_SEARCH_SVC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Cortex Search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정책/룰북 검색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ABLATION_RESULTS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 모델 MAPE/SMAPE/MAE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V_ABLATION_SUMMARY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Ablation 개선율 요약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TASK_REFRESH_PIPELINE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매일 06:00 KST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TASK_RETRAIN_FORECAST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매주 월 07:00 KST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V_APP_HEALTH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운영 상태 모니터링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POLICY_DOCUMENTS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근거 정책 문서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9B6F6"/>
                </a:solidFill>
                <a:latin typeface="Calibri"/>
              </a:defRPr>
            </a:pPr>
            <a:r>
              <a:t>MoveSignal AI — Snowflake-Native Decision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  <a:latin typeface="Calibri"/>
              </a:defRPr>
            </a:pPr>
            <a:r>
              <a:t>Doeon Kim  |  github.com/KIM3310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A8BE"/>
                </a:solidFill>
                <a:latin typeface="Calibr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